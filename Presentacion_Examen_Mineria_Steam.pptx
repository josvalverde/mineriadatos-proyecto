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Juegos</c:v>
          </c:tx>
          <c:spPr>
            <a:solidFill>
              <a:srgbClr val="0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Lit>
              <c:ptCount val="5"/>
              <c:pt idx="0">
                <c:v>Indie</c:v>
              </c:pt>
              <c:pt idx="1">
                <c:v>Action</c:v>
              </c:pt>
              <c:pt idx="2">
                <c:v>Casual</c:v>
              </c:pt>
              <c:pt idx="3">
                <c:v>Adventure</c:v>
              </c:pt>
              <c:pt idx="4">
                <c:v>Strategy</c:v>
              </c:pt>
            </c:strLit>
          </c:cat>
          <c:val>
            <c:numLit>
              <c:formatCode>General</c:formatCode>
              <c:ptCount val="5"/>
              <c:pt idx="0">
                <c:v>19421</c:v>
              </c:pt>
              <c:pt idx="1">
                <c:v>11903</c:v>
              </c:pt>
              <c:pt idx="2">
                <c:v>10210</c:v>
              </c:pt>
              <c:pt idx="3">
                <c:v>10032</c:v>
              </c:pt>
              <c:pt idx="4">
                <c:v>5247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6FE-4ECC-A247-D3A80E2D4A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L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L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Inicial</c:v>
          </c:tx>
          <c:spPr>
            <a:solidFill>
              <a:srgbClr val="B8BC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Lit>
              <c:ptCount val="4"/>
              <c:pt idx="0">
                <c:v>Accuracy</c:v>
              </c:pt>
              <c:pt idx="1">
                <c:v>Recall éxito</c:v>
              </c:pt>
              <c:pt idx="2">
                <c:v>Precisión éxito</c:v>
              </c:pt>
              <c:pt idx="3">
                <c:v>F1 éxito</c:v>
              </c:pt>
            </c:strLit>
          </c:cat>
          <c:val>
            <c:numLit>
              <c:formatCode>General</c:formatCode>
              <c:ptCount val="4"/>
              <c:pt idx="0">
                <c:v>0.81</c:v>
              </c:pt>
              <c:pt idx="1">
                <c:v>0.28999999999999998</c:v>
              </c:pt>
              <c:pt idx="2">
                <c:v>0.57999999999999996</c:v>
              </c:pt>
              <c:pt idx="3">
                <c:v>0.39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28-4382-ABCF-BE7B1A9C1304}"/>
            </c:ext>
          </c:extLst>
        </c:ser>
        <c:ser>
          <c:idx val="1"/>
          <c:order val="1"/>
          <c:tx>
            <c:v>Balanceado</c:v>
          </c:tx>
          <c:spPr>
            <a:solidFill>
              <a:srgbClr val="FF6B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Lit>
              <c:ptCount val="4"/>
              <c:pt idx="0">
                <c:v>Accuracy</c:v>
              </c:pt>
              <c:pt idx="1">
                <c:v>Recall éxito</c:v>
              </c:pt>
              <c:pt idx="2">
                <c:v>Precisión éxito</c:v>
              </c:pt>
              <c:pt idx="3">
                <c:v>F1 éxito</c:v>
              </c:pt>
            </c:strLit>
          </c:cat>
          <c:val>
            <c:numLit>
              <c:formatCode>General</c:formatCode>
              <c:ptCount val="4"/>
              <c:pt idx="0">
                <c:v>0.69</c:v>
              </c:pt>
              <c:pt idx="1">
                <c:v>0.65</c:v>
              </c:pt>
              <c:pt idx="2">
                <c:v>0.36</c:v>
              </c:pt>
              <c:pt idx="3">
                <c:v>0.46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428-4382-ABCF-BE7B1A9C13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L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L"/>
          </a:p>
        </c:txPr>
        <c:crossAx val="48650112"/>
        <c:crosses val="autoZero"/>
        <c:crossBetween val="between"/>
      </c:valAx>
    </c:plotArea>
    <c:legend>
      <c:legendPos val="b"/>
      <c:layout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indicando que el proyecto completa el ciclo de minería de datos usando Steam como caso de negocio.</a:t>
            </a:r>
          </a:p>
          <a:p>
            <a:r>
              <a:t>No presentar el dataset como un ejercicio técnico aislado: la idea es apoyar decisiones de publisher o distribuidora.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pregunta de negocio conecta directamente con la competencia de la asignatura: transformar datos en información para decisiones.</a:t>
            </a:r>
          </a:p>
          <a:p>
            <a:r>
              <a:t>Recalcar que el modelo no reemplaza al humano, funciona como filtro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Nombrar explícitamente CRISP-DM porque está alineado con la rúbrica.</a:t>
            </a:r>
          </a:p>
          <a:p>
            <a:r>
              <a:t>Hacer la conexión: cada etapa aparece implementada dentro del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el dataset sirve para minería porque tiene volumen, variedad y variables con potencial predictivo.</a:t>
            </a:r>
          </a:p>
          <a:p>
            <a:r>
              <a:t>Mencionar que las plataformas quedaron como columnas booleanas: Windows, Mac y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lámina cubre el segundo indicador de la rúbrica: preparación de datos.</a:t>
            </a:r>
          </a:p>
          <a:p>
            <a:r>
              <a:t>No entrar en cada línea de código. Defender la lógica de preparación y su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el gráfico como evidencia de concentración del mercado.</a:t>
            </a:r>
          </a:p>
          <a:p>
            <a:r>
              <a:t>Conectar con la necesidad de minería: si el precio no explica todo, se requiere combinar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lámina es clave: justifica la regla de negocio, no solo la fórmula.</a:t>
            </a:r>
          </a:p>
          <a:p>
            <a:r>
              <a:t>Explicar que se evita el ruido de juegos con muy pocas reseñas.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Decir que el árbol es interpretable, por eso es adecuado para una defensa académica y una decisión de negocio.</a:t>
            </a:r>
          </a:p>
          <a:p>
            <a:r>
              <a:t>Mencionar que se limitó la profundidad para reducir sobreajuste.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es la lámina más importante del modelo predictivo.</a:t>
            </a:r>
          </a:p>
          <a:p>
            <a:r>
              <a:t>Explicar el trade-off: accuracy baja, pero recall de éxito sube de 0.29 a 0.65.</a:t>
            </a:r>
          </a:p>
          <a:p>
            <a:r>
              <a:t>Defender que para una distribuidora es preferible revisar falsos positivos antes que perder oportunidades.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Indicar que se añadió método del codo y silhouette score en el notebook para respaldar la elección.</a:t>
            </a:r>
          </a:p>
          <a:p>
            <a:r>
              <a:t>La idea es que K-Means complementa al árbol: clasifica potencial y además perfila el tipo de juego.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ya existe dashboard en Looker, esta lámina demuestra despliegue y uso práctico.</a:t>
            </a:r>
          </a:p>
          <a:p>
            <a:r>
              <a:t>Decir que el CSV es el puente entre Python y la visualización ejecutiva.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volviendo al objetivo: apoyar decisiones de negocio con datos.</a:t>
            </a:r>
          </a:p>
          <a:p>
            <a:r>
              <a:t>Si preguntan por limitaciones, mencionar que el modelo debería recalibrarse con datos actualizados y más variables como fecha, género o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C99AD2A-55CC-4E2C-B818-9DFD0B02902F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Minería de Datos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1A3F64-1B21-4EEA-8A11-091D3D83A626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7636603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Predicción</a:t>
            </a:r>
            <a:r>
              <a:rPr sz="49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49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segmentación</a:t>
            </a:r>
            <a:r>
              <a:rPr sz="49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del </a:t>
            </a:r>
            <a:r>
              <a:rPr sz="49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éxito</a:t>
            </a:r>
            <a:r>
              <a:rPr sz="49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49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</a:t>
            </a:r>
            <a:r>
              <a:rPr sz="49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Steam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F59F37-0E3D-4550-81D0-26D464CE8D66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Examen Transversal BIY7121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F635BC-48BA-454D-B1DE-09E95AE2FFDD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Amaro Araneda | Josseph Valverde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8758BA-5774-4A3F-B6A7-CF0AEC638644}"/>
              </a:ext>
            </a:extLst>
          </p:cNvPr>
          <p:cNvSpPr>
            <a:spLocks noGrp="1"/>
          </p:cNvSpPr>
          <p:nvPr/>
        </p:nvSpPr>
        <p:spPr>
          <a:xfrm>
            <a:off x="8458200" y="0"/>
            <a:ext cx="3333750" cy="685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3EA792-A0FA-4130-ACF5-9228842763DE}"/>
              </a:ext>
            </a:extLst>
          </p:cNvPr>
          <p:cNvSpPr>
            <a:spLocks noGrp="1"/>
          </p:cNvSpPr>
          <p:nvPr/>
        </p:nvSpPr>
        <p:spPr>
          <a:xfrm>
            <a:off x="8858250" y="1143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27.075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AD9991-3F15-4664-B083-C2EC15C6CD29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videojuegos analizados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CCFFB0A-E4FA-4C02-AAD5-F94059915541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5298B6E-C7B8-4D64-A038-24DE9DE1A957}"/>
              </a:ext>
            </a:extLst>
          </p:cNvPr>
          <p:cNvSpPr>
            <a:spLocks noGrp="1"/>
          </p:cNvSpPr>
          <p:nvPr/>
        </p:nvSpPr>
        <p:spPr>
          <a:xfrm>
            <a:off x="8858250" y="35814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modelos aplicados: árbol y K-Means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8DF239-9350-4141-8B52-3E887E937C19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792EA7-06E1-4343-9209-013185BFFDB0}"/>
              </a:ext>
            </a:extLst>
          </p:cNvPr>
          <p:cNvSpPr>
            <a:spLocks noGrp="1"/>
          </p:cNvSpPr>
          <p:nvPr/>
        </p:nvSpPr>
        <p:spPr>
          <a:xfrm>
            <a:off x="8858250" y="52959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CSV final para dashboard en Looker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8E0813-EEFD-4D29-A674-A84B3A190A3A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403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AD992C8-E2E8-47F5-9CA2-1708436339B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PROBLEMA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5C0B20-C5BD-44F1-B314-AA760C569EC0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mercado de Steam exige priorizar qué juegos tienen potencial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A43269-3C88-4665-92A8-A22F464942DA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6CDF155-BF76-4C7C-B1D6-421378A17512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003D0A1-984E-4C6A-90F1-904EBEA53AC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65722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Steam concentra miles de títulos y la mayoría no logra destacar. Para una distribuidora, decidir dónde invertir marketing, curaduría o apoyo comercial requiere señales tempranas de potencial.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14D5887-D886-47E7-9D90-8620E4325D5E}"/>
              </a:ext>
            </a:extLst>
          </p:cNvPr>
          <p:cNvSpPr>
            <a:spLocks noGrp="1"/>
          </p:cNvSpPr>
          <p:nvPr/>
        </p:nvSpPr>
        <p:spPr>
          <a:xfrm>
            <a:off x="7486650" y="1847850"/>
            <a:ext cx="3886200" cy="3294602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BD36B9-264B-4F22-AA3F-E7B822DED86B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Pregunta principal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E417823-CBB2-4E25-8AD6-B4DFBD43E29B}"/>
              </a:ext>
            </a:extLst>
          </p:cNvPr>
          <p:cNvSpPr>
            <a:spLocks noGrp="1"/>
          </p:cNvSpPr>
          <p:nvPr/>
        </p:nvSpPr>
        <p:spPr>
          <a:xfrm>
            <a:off x="7848600" y="2781300"/>
            <a:ext cx="3162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¿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posible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predecir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un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juego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será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exitoso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usando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precio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tiempo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promedio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juego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logros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edad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requerida</a:t>
            </a: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F38C4E-6878-43C5-B806-A6A706105B43}"/>
              </a:ext>
            </a:extLst>
          </p:cNvPr>
          <p:cNvSpPr>
            <a:spLocks noGrp="1"/>
          </p:cNvSpPr>
          <p:nvPr/>
        </p:nvSpPr>
        <p:spPr>
          <a:xfrm>
            <a:off x="7848600" y="4852987"/>
            <a:ext cx="114300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BEE521-47A9-428B-8B9E-8B4D4D6EF39C}"/>
              </a:ext>
            </a:extLst>
          </p:cNvPr>
          <p:cNvSpPr>
            <a:spLocks noGrp="1"/>
          </p:cNvSpPr>
          <p:nvPr/>
        </p:nvSpPr>
        <p:spPr>
          <a:xfrm>
            <a:off x="400050" y="4229100"/>
            <a:ext cx="619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Decisión buscada: priorizar títulos para revisión, campaña o inversión.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99D6978-52F5-4EC5-A494-B1A47758AEE8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308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B0954E5-B900-443B-80AD-5CCCB29D168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METODOLOGÍA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7FA4D21-10BD-41BE-9693-E04A0EEAC86C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CRISP-DM ordenó el trabajo desde el negocio hasta el despliegue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90C069-807F-47AF-882C-2950657605E5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E04357-A46D-4234-80AD-613E5107A420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623C44-228E-4505-A335-89D9DFEDCF06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7DFB58D-EB3C-48CE-8535-566B086B0B03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13811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B71A81-0C00-4194-8D89-A196D841DFEF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Comprensión del negocio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960EA5-1560-4E8A-80AE-5C021C5E753C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1562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Definir qué significa apoyar la selección de juegos.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4077637-50FB-4FCD-9120-9E60A9535399}"/>
              </a:ext>
            </a:extLst>
          </p:cNvPr>
          <p:cNvSpPr>
            <a:spLocks noGrp="1"/>
          </p:cNvSpPr>
          <p:nvPr/>
        </p:nvSpPr>
        <p:spPr>
          <a:xfrm>
            <a:off x="2295525" y="19050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93AEB4-86B6-476C-92AD-221A31C3AF7A}"/>
              </a:ext>
            </a:extLst>
          </p:cNvPr>
          <p:cNvSpPr>
            <a:spLocks noGrp="1"/>
          </p:cNvSpPr>
          <p:nvPr/>
        </p:nvSpPr>
        <p:spPr>
          <a:xfrm>
            <a:off x="2295525" y="2495550"/>
            <a:ext cx="13811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4B55CA-785B-4233-8F30-5C22D8EC2F63}"/>
              </a:ext>
            </a:extLst>
          </p:cNvPr>
          <p:cNvSpPr>
            <a:spLocks noGrp="1"/>
          </p:cNvSpPr>
          <p:nvPr/>
        </p:nvSpPr>
        <p:spPr>
          <a:xfrm>
            <a:off x="2295525" y="27241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Comprensión de datos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55A1499-C002-4B95-B44F-4F515755CEDC}"/>
              </a:ext>
            </a:extLst>
          </p:cNvPr>
          <p:cNvSpPr>
            <a:spLocks noGrp="1"/>
          </p:cNvSpPr>
          <p:nvPr/>
        </p:nvSpPr>
        <p:spPr>
          <a:xfrm>
            <a:off x="2295525" y="3409950"/>
            <a:ext cx="1562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Explorar 27.075 registros, tipos de variables y distribuciones.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47BBE22-98C8-4D26-801E-E090E5D58B4C}"/>
              </a:ext>
            </a:extLst>
          </p:cNvPr>
          <p:cNvSpPr>
            <a:spLocks noGrp="1"/>
          </p:cNvSpPr>
          <p:nvPr/>
        </p:nvSpPr>
        <p:spPr>
          <a:xfrm>
            <a:off x="4191000" y="19050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0027D60-F6C6-42EA-907B-D098DD2B139C}"/>
              </a:ext>
            </a:extLst>
          </p:cNvPr>
          <p:cNvSpPr>
            <a:spLocks noGrp="1"/>
          </p:cNvSpPr>
          <p:nvPr/>
        </p:nvSpPr>
        <p:spPr>
          <a:xfrm>
            <a:off x="4191000" y="2495550"/>
            <a:ext cx="13811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79798DD-8909-42EF-97FA-DC12ABB5B88B}"/>
              </a:ext>
            </a:extLst>
          </p:cNvPr>
          <p:cNvSpPr>
            <a:spLocks noGrp="1"/>
          </p:cNvSpPr>
          <p:nvPr/>
        </p:nvSpPr>
        <p:spPr>
          <a:xfrm>
            <a:off x="4191000" y="27241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Preparación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710095-C9FF-44E1-BC77-6D319F154271}"/>
              </a:ext>
            </a:extLst>
          </p:cNvPr>
          <p:cNvSpPr>
            <a:spLocks noGrp="1"/>
          </p:cNvSpPr>
          <p:nvPr/>
        </p:nvSpPr>
        <p:spPr>
          <a:xfrm>
            <a:off x="4191000" y="3409950"/>
            <a:ext cx="1562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Limpiar nulos, transformar columnas y crear variable objetivo.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7208548-7E36-4EEA-9D46-EFB3B9DEA448}"/>
              </a:ext>
            </a:extLst>
          </p:cNvPr>
          <p:cNvSpPr>
            <a:spLocks noGrp="1"/>
          </p:cNvSpPr>
          <p:nvPr/>
        </p:nvSpPr>
        <p:spPr>
          <a:xfrm>
            <a:off x="6086475" y="19050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6A0AD49-AD49-4C13-86A0-B100EDC2F442}"/>
              </a:ext>
            </a:extLst>
          </p:cNvPr>
          <p:cNvSpPr>
            <a:spLocks noGrp="1"/>
          </p:cNvSpPr>
          <p:nvPr/>
        </p:nvSpPr>
        <p:spPr>
          <a:xfrm>
            <a:off x="6086475" y="2495550"/>
            <a:ext cx="13811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3F1BEE4-3F5F-4CA5-9316-3B7AEB6BAF9D}"/>
              </a:ext>
            </a:extLst>
          </p:cNvPr>
          <p:cNvSpPr>
            <a:spLocks noGrp="1"/>
          </p:cNvSpPr>
          <p:nvPr/>
        </p:nvSpPr>
        <p:spPr>
          <a:xfrm>
            <a:off x="6086475" y="27241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Modelamiento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CB7C394-CDCB-4D58-AA68-94C838FA798D}"/>
              </a:ext>
            </a:extLst>
          </p:cNvPr>
          <p:cNvSpPr>
            <a:spLocks noGrp="1"/>
          </p:cNvSpPr>
          <p:nvPr/>
        </p:nvSpPr>
        <p:spPr>
          <a:xfrm>
            <a:off x="6086475" y="3409950"/>
            <a:ext cx="1562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Aplicar árbol de decisión y K-Means.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2F71336-4EA0-4294-9FCC-837987F80CF4}"/>
              </a:ext>
            </a:extLst>
          </p:cNvPr>
          <p:cNvSpPr>
            <a:spLocks noGrp="1"/>
          </p:cNvSpPr>
          <p:nvPr/>
        </p:nvSpPr>
        <p:spPr>
          <a:xfrm>
            <a:off x="7981950" y="19050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75AE3DE-0CFF-4DC3-98DC-E344A0BBD472}"/>
              </a:ext>
            </a:extLst>
          </p:cNvPr>
          <p:cNvSpPr>
            <a:spLocks noGrp="1"/>
          </p:cNvSpPr>
          <p:nvPr/>
        </p:nvSpPr>
        <p:spPr>
          <a:xfrm>
            <a:off x="7981950" y="2495550"/>
            <a:ext cx="1381125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0C198FE-0485-4B78-90B9-B24CA70C3641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210BE64-882B-414D-B51A-9BCC995C37B2}"/>
              </a:ext>
            </a:extLst>
          </p:cNvPr>
          <p:cNvSpPr>
            <a:spLocks noGrp="1"/>
          </p:cNvSpPr>
          <p:nvPr/>
        </p:nvSpPr>
        <p:spPr>
          <a:xfrm>
            <a:off x="7981950" y="3409950"/>
            <a:ext cx="1562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Medir recall, precisión, matriz de confusión y AUC.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93D2E1A-AC8C-496A-9A16-3B9DF8FD51BA}"/>
              </a:ext>
            </a:extLst>
          </p:cNvPr>
          <p:cNvSpPr>
            <a:spLocks noGrp="1"/>
          </p:cNvSpPr>
          <p:nvPr/>
        </p:nvSpPr>
        <p:spPr>
          <a:xfrm>
            <a:off x="9877425" y="19050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422FA4B-D4D5-4CBC-8C9B-5A39059A16EA}"/>
              </a:ext>
            </a:extLst>
          </p:cNvPr>
          <p:cNvSpPr>
            <a:spLocks noGrp="1"/>
          </p:cNvSpPr>
          <p:nvPr/>
        </p:nvSpPr>
        <p:spPr>
          <a:xfrm>
            <a:off x="9877425" y="2495550"/>
            <a:ext cx="1381125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7DD4A91-4F63-44C6-B8C6-11783420BBA8}"/>
              </a:ext>
            </a:extLst>
          </p:cNvPr>
          <p:cNvSpPr>
            <a:spLocks noGrp="1"/>
          </p:cNvSpPr>
          <p:nvPr/>
        </p:nvSpPr>
        <p:spPr>
          <a:xfrm>
            <a:off x="9877425" y="27241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Despliegue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680CB70-0D40-47DD-B229-6A44637A7644}"/>
              </a:ext>
            </a:extLst>
          </p:cNvPr>
          <p:cNvSpPr>
            <a:spLocks noGrp="1"/>
          </p:cNvSpPr>
          <p:nvPr/>
        </p:nvSpPr>
        <p:spPr>
          <a:xfrm>
            <a:off x="9877425" y="3409950"/>
            <a:ext cx="1562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Exportar CSV para dashboard y seguimiento.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7C8DE1-797B-444B-96FF-ACCBDD608D23}"/>
              </a:ext>
            </a:extLst>
          </p:cNvPr>
          <p:cNvSpPr>
            <a:spLocks noGrp="1"/>
          </p:cNvSpPr>
          <p:nvPr/>
        </p:nvSpPr>
        <p:spPr>
          <a:xfrm>
            <a:off x="400050" y="5191125"/>
            <a:ext cx="923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metodología permite defender el notebook como un proceso completo, no como una lista de celdas.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B653A9C-7C50-4811-B192-4F1B83CE00D3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817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2978FF2-432D-45B2-8C2B-0BDD203DB26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512868-8D1F-4631-94E5-9C61BBF6DC24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dataset combina variables comerciales, técnicas y de recepción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41D6714-7086-43CC-A767-151413B844E8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5D3AAB-7BFC-419E-A3D2-54FB013FB3F4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A449FD-3E1D-4D28-8624-1B3FD84F3D2D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27.075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A10B0D-74B2-40D9-8F1C-3B1394AADEE7}"/>
              </a:ext>
            </a:extLst>
          </p:cNvPr>
          <p:cNvSpPr>
            <a:spLocks noGrp="1"/>
          </p:cNvSpPr>
          <p:nvPr/>
        </p:nvSpPr>
        <p:spPr>
          <a:xfrm>
            <a:off x="400050" y="26098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filas del dataset Steam Games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ACE8F7-DA86-46C1-8D1E-CCB170636546}"/>
              </a:ext>
            </a:extLst>
          </p:cNvPr>
          <p:cNvSpPr>
            <a:spLocks noGrp="1"/>
          </p:cNvSpPr>
          <p:nvPr/>
        </p:nvSpPr>
        <p:spPr>
          <a:xfrm>
            <a:off x="3067050" y="18859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8325F8-3BEC-42F6-95F2-C72BF724DB52}"/>
              </a:ext>
            </a:extLst>
          </p:cNvPr>
          <p:cNvSpPr>
            <a:spLocks noGrp="1"/>
          </p:cNvSpPr>
          <p:nvPr/>
        </p:nvSpPr>
        <p:spPr>
          <a:xfrm>
            <a:off x="3067050" y="260985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columnas después de separar plataformas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4FAEFD-4AF8-442F-A89D-26FBA6FEB410}"/>
              </a:ext>
            </a:extLst>
          </p:cNvPr>
          <p:cNvSpPr>
            <a:spLocks noGrp="1"/>
          </p:cNvSpPr>
          <p:nvPr/>
        </p:nvSpPr>
        <p:spPr>
          <a:xfrm>
            <a:off x="6115050" y="1885950"/>
            <a:ext cx="304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8 + 9 + 3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DD4D3ED-C292-4E40-B42C-C5D272D54E67}"/>
              </a:ext>
            </a:extLst>
          </p:cNvPr>
          <p:cNvSpPr>
            <a:spLocks noGrp="1"/>
          </p:cNvSpPr>
          <p:nvPr/>
        </p:nvSpPr>
        <p:spPr>
          <a:xfrm>
            <a:off x="6115050" y="26098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categóricas, numéricas y booleanas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4721335-DDF3-419C-A39F-155134486DDD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11391900" cy="14668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9DEE044-396A-4D2F-961E-F574516F1CA6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Variables usadas para modelar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AD89A9-54B6-4B99-836C-C2422C011BC5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942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Precio | Tiempo promedio de juego | Logros | Edad requerida</a:t>
            </a:r>
          </a:p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Reseñas positivas y negativas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B8ECB8F-9C84-4BFC-8A26-942886A813DA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Fuente: Kaggle, Steam Store Games Dataset.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B3215D9-50B8-4DE9-87BB-56238A286C1F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385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6E92A8E-D251-4536-AF2C-98A0C88F72B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PREPARACIÓN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3C3151-C4EC-4B72-A42C-B83A5A25B224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limpieza convirtió el dataset en una base apta para modelar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43AC56-5950-4AAD-8490-4C3EEF46F6AD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9FAAA3-9153-462C-96E4-40E706D98F23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92D050-B45C-4CBD-805B-443313A9E1D1}"/>
              </a:ext>
            </a:extLst>
          </p:cNvPr>
          <p:cNvSpPr>
            <a:spLocks noGrp="1"/>
          </p:cNvSpPr>
          <p:nvPr/>
        </p:nvSpPr>
        <p:spPr>
          <a:xfrm>
            <a:off x="666750" y="21050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AA2AAD-41CF-4A84-BC1B-6FC1EAE5307B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554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 revisaron tipos de datos y valores nulos por columna.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CB7514-7641-479D-8D19-239AB706CD5C}"/>
              </a:ext>
            </a:extLst>
          </p:cNvPr>
          <p:cNvSpPr>
            <a:spLocks noGrp="1"/>
          </p:cNvSpPr>
          <p:nvPr/>
        </p:nvSpPr>
        <p:spPr>
          <a:xfrm>
            <a:off x="666750" y="27527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537042D-1F95-46CB-B2B5-CB49F41DD2AE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554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 nulos de developer y publisher fueron imputados como dato desconocido.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CB7398E-441E-4A58-A376-C698E5032CA7}"/>
              </a:ext>
            </a:extLst>
          </p:cNvPr>
          <p:cNvSpPr>
            <a:spLocks noGrp="1"/>
          </p:cNvSpPr>
          <p:nvPr/>
        </p:nvSpPr>
        <p:spPr>
          <a:xfrm>
            <a:off x="666750" y="34004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62D2D5-1E26-47C7-BE1B-7346F4D5283D}"/>
              </a:ext>
            </a:extLst>
          </p:cNvPr>
          <p:cNvSpPr>
            <a:spLocks noGrp="1"/>
          </p:cNvSpPr>
          <p:nvPr/>
        </p:nvSpPr>
        <p:spPr>
          <a:xfrm>
            <a:off x="933450" y="3314700"/>
            <a:ext cx="554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columna platforms se separó en windows, mac y linux.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2C30897-AF95-425F-924C-5FE2A12DAB8B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E88B38D-3ACC-42E7-958A-981CD68508D8}"/>
              </a:ext>
            </a:extLst>
          </p:cNvPr>
          <p:cNvSpPr>
            <a:spLocks noGrp="1"/>
          </p:cNvSpPr>
          <p:nvPr/>
        </p:nvSpPr>
        <p:spPr>
          <a:xfrm>
            <a:off x="933450" y="3962400"/>
            <a:ext cx="554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 crearon total_ratings, porcentaje_positivo y exito_comercial.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3EA3033-1457-46AF-9240-D4ACD16FE556}"/>
              </a:ext>
            </a:extLst>
          </p:cNvPr>
          <p:cNvSpPr>
            <a:spLocks noGrp="1"/>
          </p:cNvSpPr>
          <p:nvPr/>
        </p:nvSpPr>
        <p:spPr>
          <a:xfrm>
            <a:off x="7239000" y="1924049"/>
            <a:ext cx="3562350" cy="3075789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4A400E-BD9C-47B8-BAF8-276BEC15BD1A}"/>
              </a:ext>
            </a:extLst>
          </p:cNvPr>
          <p:cNvSpPr>
            <a:spLocks noGrp="1"/>
          </p:cNvSpPr>
          <p:nvPr/>
        </p:nvSpPr>
        <p:spPr>
          <a:xfrm>
            <a:off x="7562850" y="22383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B0A4B15-FFB1-4D94-A393-3B2FA9959C2A}"/>
              </a:ext>
            </a:extLst>
          </p:cNvPr>
          <p:cNvSpPr>
            <a:spLocks noGrp="1"/>
          </p:cNvSpPr>
          <p:nvPr/>
        </p:nvSpPr>
        <p:spPr>
          <a:xfrm>
            <a:off x="7562850" y="2819400"/>
            <a:ext cx="28384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Una tabla sin nulos, con variables originales y derivadas listas para análisis exploratorio, clasificación y segmentación.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B7B037E-A673-49FB-B09D-97269863AB82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899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B877AB8-4F25-4484-BE12-547BDC2411A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EXPLORACIÓN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743592-108F-4686-8EBE-E99F6F83FAE7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</a:t>
            </a:r>
            <a:r>
              <a:rPr sz="28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análisis</a:t>
            </a: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8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exploratorio</a:t>
            </a: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8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muestra</a:t>
            </a: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un </a:t>
            </a:r>
            <a:r>
              <a:rPr sz="28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mercado</a:t>
            </a: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8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concentrado</a:t>
            </a:r>
            <a:r>
              <a:rPr sz="28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28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asimétrico</a:t>
            </a:r>
            <a:endParaRPr sz="28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A0CD5D-EF05-481D-8EBB-E8D095A0832C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B62515-BE45-4FCF-83BD-8BC18461C31A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400050" y="1962150"/>
          <a:ext cx="5334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D7044DE-8A88-47F0-B080-8751E00C7BB6}"/>
              </a:ext>
            </a:extLst>
          </p:cNvPr>
          <p:cNvSpPr>
            <a:spLocks noGrp="1"/>
          </p:cNvSpPr>
          <p:nvPr/>
        </p:nvSpPr>
        <p:spPr>
          <a:xfrm>
            <a:off x="400050" y="49149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Top 5 géneros por frecuencia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7BEFA22-265C-4DE9-B9F5-AEB8E3974AE9}"/>
              </a:ext>
            </a:extLst>
          </p:cNvPr>
          <p:cNvSpPr>
            <a:spLocks noGrp="1"/>
          </p:cNvSpPr>
          <p:nvPr/>
        </p:nvSpPr>
        <p:spPr>
          <a:xfrm>
            <a:off x="6572250" y="22955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213D37-0EFF-4E72-92D5-064DCEB3D508}"/>
              </a:ext>
            </a:extLst>
          </p:cNvPr>
          <p:cNvSpPr>
            <a:spLocks noGrp="1"/>
          </p:cNvSpPr>
          <p:nvPr/>
        </p:nvSpPr>
        <p:spPr>
          <a:xfrm>
            <a:off x="6838950" y="2209800"/>
            <a:ext cx="3924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Indie domina el catálogo con 19.421 apariciones.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8BC3CF-91CD-4172-8D21-2852BBC7B7F9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90E4A69-DBF8-4D6F-A24F-00224508CFBF}"/>
              </a:ext>
            </a:extLst>
          </p:cNvPr>
          <p:cNvSpPr>
            <a:spLocks noGrp="1"/>
          </p:cNvSpPr>
          <p:nvPr/>
        </p:nvSpPr>
        <p:spPr>
          <a:xfrm>
            <a:off x="6838950" y="2914650"/>
            <a:ext cx="3924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precio tiene baja correlación con la valoración.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EF5AA-1CA0-48D2-B958-05ECBED45D4A}"/>
              </a:ext>
            </a:extLst>
          </p:cNvPr>
          <p:cNvSpPr>
            <a:spLocks noGrp="1"/>
          </p:cNvSpPr>
          <p:nvPr/>
        </p:nvSpPr>
        <p:spPr>
          <a:xfrm>
            <a:off x="6572250" y="37052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E954112-43E0-42A7-9CA3-4DDBDA7ED57B}"/>
              </a:ext>
            </a:extLst>
          </p:cNvPr>
          <p:cNvSpPr>
            <a:spLocks noGrp="1"/>
          </p:cNvSpPr>
          <p:nvPr/>
        </p:nvSpPr>
        <p:spPr>
          <a:xfrm>
            <a:off x="6838950" y="3619500"/>
            <a:ext cx="3924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Ratings y tiempo de juego presentan alta asimetría.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5FCD13-C813-4521-B178-75CB9006989E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428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La exploración justifica usar modelos: hay patrones, pero no son evidentes con una sola variable.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2B834D6-3655-48D5-855F-084E774920E7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5152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EF22AD4-6D42-4139-B91C-47E7BE94A79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VARIABLE OBJETIVO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8D7830-6675-48BC-81F2-0992E5FBB35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regla de éxito evita clasificar como exitosos casos con poca evidencia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703F982-E741-4DEE-AA82-CCDF0A630EC4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A06378-0AD1-4272-9CE1-A164532FBFEA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7DCDB5-FD77-4713-BAAA-D907636CEF0F}"/>
              </a:ext>
            </a:extLst>
          </p:cNvPr>
          <p:cNvSpPr>
            <a:spLocks noGrp="1"/>
          </p:cNvSpPr>
          <p:nvPr/>
        </p:nvSpPr>
        <p:spPr>
          <a:xfrm>
            <a:off x="742950" y="2076449"/>
            <a:ext cx="4000500" cy="2889833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F921CC-FDD2-47A1-996C-22D5AE746B96}"/>
              </a:ext>
            </a:extLst>
          </p:cNvPr>
          <p:cNvSpPr>
            <a:spLocks noGrp="1"/>
          </p:cNvSpPr>
          <p:nvPr/>
        </p:nvSpPr>
        <p:spPr>
          <a:xfrm>
            <a:off x="1085850" y="24003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Juego exitoso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58AB43-7CF5-40A3-9AF3-589A570C2151}"/>
              </a:ext>
            </a:extLst>
          </p:cNvPr>
          <p:cNvSpPr>
            <a:spLocks noGrp="1"/>
          </p:cNvSpPr>
          <p:nvPr/>
        </p:nvSpPr>
        <p:spPr>
          <a:xfrm>
            <a:off x="1085850" y="30670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≥ 80%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97BDB9B-40CF-4BCE-9597-A2DCC0D5D7CC}"/>
              </a:ext>
            </a:extLst>
          </p:cNvPr>
          <p:cNvSpPr>
            <a:spLocks noGrp="1"/>
          </p:cNvSpPr>
          <p:nvPr/>
        </p:nvSpPr>
        <p:spPr>
          <a:xfrm>
            <a:off x="2971800" y="32766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reseñas positivas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FC1CB2-ACE9-4827-A124-511D6C1D684B}"/>
              </a:ext>
            </a:extLst>
          </p:cNvPr>
          <p:cNvSpPr>
            <a:spLocks noGrp="1"/>
          </p:cNvSpPr>
          <p:nvPr/>
        </p:nvSpPr>
        <p:spPr>
          <a:xfrm>
            <a:off x="1085850" y="39052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≥ 50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62CC80F-F2D9-4654-9CCB-3F43A6B96C9D}"/>
              </a:ext>
            </a:extLst>
          </p:cNvPr>
          <p:cNvSpPr>
            <a:spLocks noGrp="1"/>
          </p:cNvSpPr>
          <p:nvPr/>
        </p:nvSpPr>
        <p:spPr>
          <a:xfrm>
            <a:off x="2971800" y="41148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reseñas totales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769D062-D26C-4C48-A0DE-E8221D4298E9}"/>
              </a:ext>
            </a:extLst>
          </p:cNvPr>
          <p:cNvSpPr>
            <a:spLocks noGrp="1"/>
          </p:cNvSpPr>
          <p:nvPr/>
        </p:nvSpPr>
        <p:spPr>
          <a:xfrm>
            <a:off x="5810250" y="2305050"/>
            <a:ext cx="5048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condición de 50 reseñas reduce ruido: un juego con 1 reseña positiva no representa éxito comercial confiable.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2E3972-5FB8-411F-9CF3-42173B597373}"/>
              </a:ext>
            </a:extLst>
          </p:cNvPr>
          <p:cNvSpPr>
            <a:spLocks noGrp="1"/>
          </p:cNvSpPr>
          <p:nvPr/>
        </p:nvSpPr>
        <p:spPr>
          <a:xfrm>
            <a:off x="5810250" y="390525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Así, la variable exito_comercial combina calidad percibida y una base mínima de evidencia.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79EE0B8-0C12-4358-B27C-73F704C5BCE9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379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89F4506E-CDAB-41AB-B9A8-D45358EB3B3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MODELO PREDICTIVO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DF5730F-63B1-43CA-9EA7-BC941520D976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árbol de decisión traduce variables del juego en una alerta de potencial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5AAC1F8-DFD9-4195-B146-C5A020695883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713767-4E62-4826-86F8-965510377664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ABCF34-3FF8-40E4-9E12-33DDE9DC367E}"/>
              </a:ext>
            </a:extLst>
          </p:cNvPr>
          <p:cNvSpPr>
            <a:spLocks noGrp="1"/>
          </p:cNvSpPr>
          <p:nvPr/>
        </p:nvSpPr>
        <p:spPr>
          <a:xfrm>
            <a:off x="6667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Entrada del modelo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C4E0BC-2660-4A09-9C45-BDEC729EFEF8}"/>
              </a:ext>
            </a:extLst>
          </p:cNvPr>
          <p:cNvSpPr>
            <a:spLocks noGrp="1"/>
          </p:cNvSpPr>
          <p:nvPr/>
        </p:nvSpPr>
        <p:spPr>
          <a:xfrm>
            <a:off x="781050" y="269557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E7E79F-5642-40A3-9643-8D2A50768D0C}"/>
              </a:ext>
            </a:extLst>
          </p:cNvPr>
          <p:cNvSpPr>
            <a:spLocks noGrp="1"/>
          </p:cNvSpPr>
          <p:nvPr/>
        </p:nvSpPr>
        <p:spPr>
          <a:xfrm>
            <a:off x="1047750" y="260985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price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E8156A-CB00-446A-878C-956B58B2DD1F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A3206C-58B3-45E0-8D6D-41627D44EBCE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average_playtime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851CF5B-FEC3-4E6F-9DE5-9B1EE5CA9714}"/>
              </a:ext>
            </a:extLst>
          </p:cNvPr>
          <p:cNvSpPr>
            <a:spLocks noGrp="1"/>
          </p:cNvSpPr>
          <p:nvPr/>
        </p:nvSpPr>
        <p:spPr>
          <a:xfrm>
            <a:off x="781050" y="380047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DC9ED3-8840-44F3-804C-88E8B69596A4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achievements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AC3F5C-B2B5-47E6-85BF-FCA5F633CD8E}"/>
              </a:ext>
            </a:extLst>
          </p:cNvPr>
          <p:cNvSpPr>
            <a:spLocks noGrp="1"/>
          </p:cNvSpPr>
          <p:nvPr/>
        </p:nvSpPr>
        <p:spPr>
          <a:xfrm>
            <a:off x="781050" y="4352925"/>
            <a:ext cx="85725" cy="8572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6A190C6-8ACB-44FC-8EBC-117301DC8D3D}"/>
              </a:ext>
            </a:extLst>
          </p:cNvPr>
          <p:cNvSpPr>
            <a:spLocks noGrp="1"/>
          </p:cNvSpPr>
          <p:nvPr/>
        </p:nvSpPr>
        <p:spPr>
          <a:xfrm>
            <a:off x="1047750" y="426720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required_age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0C34E4-B69B-49D4-A956-2ECF44565C62}"/>
              </a:ext>
            </a:extLst>
          </p:cNvPr>
          <p:cNvSpPr>
            <a:spLocks noGrp="1"/>
          </p:cNvSpPr>
          <p:nvPr/>
        </p:nvSpPr>
        <p:spPr>
          <a:xfrm>
            <a:off x="4619625" y="2209800"/>
            <a:ext cx="2381250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7BE27A0-B6F4-4357-A8A5-B9190AEA68FA}"/>
              </a:ext>
            </a:extLst>
          </p:cNvPr>
          <p:cNvSpPr>
            <a:spLocks noGrp="1"/>
          </p:cNvSpPr>
          <p:nvPr/>
        </p:nvSpPr>
        <p:spPr>
          <a:xfrm>
            <a:off x="4876800" y="268605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Árbol de decisión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040CD45-8DFF-484A-8238-F4687524FB02}"/>
              </a:ext>
            </a:extLst>
          </p:cNvPr>
          <p:cNvSpPr>
            <a:spLocks noGrp="1"/>
          </p:cNvSpPr>
          <p:nvPr/>
        </p:nvSpPr>
        <p:spPr>
          <a:xfrm>
            <a:off x="4876800" y="32575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max_depth = 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5B8053B-EB23-4C2E-8049-76831F3A40E9}"/>
              </a:ext>
            </a:extLst>
          </p:cNvPr>
          <p:cNvSpPr>
            <a:spLocks noGrp="1"/>
          </p:cNvSpPr>
          <p:nvPr/>
        </p:nvSpPr>
        <p:spPr>
          <a:xfrm>
            <a:off x="4171950" y="3009900"/>
            <a:ext cx="381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CC13C8D-0CE2-433C-A346-57B468EB0974}"/>
              </a:ext>
            </a:extLst>
          </p:cNvPr>
          <p:cNvSpPr>
            <a:spLocks noGrp="1"/>
          </p:cNvSpPr>
          <p:nvPr/>
        </p:nvSpPr>
        <p:spPr>
          <a:xfrm>
            <a:off x="7124700" y="3009900"/>
            <a:ext cx="381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6A114D4-AD3A-45A9-91A0-F143E05CC2C2}"/>
              </a:ext>
            </a:extLst>
          </p:cNvPr>
          <p:cNvSpPr>
            <a:spLocks noGrp="1"/>
          </p:cNvSpPr>
          <p:nvPr/>
        </p:nvSpPr>
        <p:spPr>
          <a:xfrm>
            <a:off x="7810500" y="2019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Salida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C5B10A1-7ED4-4A1C-9036-ED9A9C0CC37E}"/>
              </a:ext>
            </a:extLst>
          </p:cNvPr>
          <p:cNvSpPr>
            <a:spLocks noGrp="1"/>
          </p:cNvSpPr>
          <p:nvPr/>
        </p:nvSpPr>
        <p:spPr>
          <a:xfrm>
            <a:off x="7810500" y="2609850"/>
            <a:ext cx="2876550" cy="876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2507300-2169-4221-A64A-7E37B5DE9694}"/>
              </a:ext>
            </a:extLst>
          </p:cNvPr>
          <p:cNvSpPr>
            <a:spLocks noGrp="1"/>
          </p:cNvSpPr>
          <p:nvPr/>
        </p:nvSpPr>
        <p:spPr>
          <a:xfrm>
            <a:off x="8115300" y="28575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Exitoso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4C4AA01-EF65-4E1F-A112-9F50AB6728A3}"/>
              </a:ext>
            </a:extLst>
          </p:cNvPr>
          <p:cNvSpPr>
            <a:spLocks noGrp="1"/>
          </p:cNvSpPr>
          <p:nvPr/>
        </p:nvSpPr>
        <p:spPr>
          <a:xfrm>
            <a:off x="7810500" y="3752850"/>
            <a:ext cx="2876550" cy="876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0F8B250-9AAF-4F37-9D6C-F85D0C8F289B}"/>
              </a:ext>
            </a:extLst>
          </p:cNvPr>
          <p:cNvSpPr>
            <a:spLocks noGrp="1"/>
          </p:cNvSpPr>
          <p:nvPr/>
        </p:nvSpPr>
        <p:spPr>
          <a:xfrm>
            <a:off x="8115300" y="40005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 / fracaso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016A717-84D3-4C10-AD99-D47A8454B38E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 usó train/test 80/20 para evaluar el desempeño fuera del entrenamiento.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D2B5AEB-A862-4B4C-89A1-96C31D40FDB2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1443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5B2FA1E-2566-46FE-AD8D-401BAC1ED15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AA2F7E-F4E4-42F9-B3B5-1EB1F1274488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Balancear el árbol mejora la detección de éxitos aunque genere más falsos positivos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32A9D4-D2E8-4680-AEF0-088DF44A0FF4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A855A9C-0314-4F97-B41C-5D2D222456B7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2699038957"/>
              </p:ext>
            </p:extLst>
          </p:nvPr>
        </p:nvGraphicFramePr>
        <p:xfrm>
          <a:off x="400049" y="1924050"/>
          <a:ext cx="6386645" cy="4048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50F1084-E87F-4746-95EB-54BE935BDDD1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0,741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97F0E4-EF5F-43BC-ADD3-A1ECAB8E4AD9}"/>
              </a:ext>
            </a:extLst>
          </p:cNvPr>
          <p:cNvSpPr>
            <a:spLocks noGrp="1"/>
          </p:cNvSpPr>
          <p:nvPr/>
        </p:nvSpPr>
        <p:spPr>
          <a:xfrm>
            <a:off x="7048500" y="2819400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AUC-ROC del árbol balanceado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C2AAD2-21ED-4F48-BFAB-3ED972DAEA07}"/>
              </a:ext>
            </a:extLst>
          </p:cNvPr>
          <p:cNvSpPr>
            <a:spLocks noGrp="1"/>
          </p:cNvSpPr>
          <p:nvPr/>
        </p:nvSpPr>
        <p:spPr>
          <a:xfrm>
            <a:off x="7048500" y="3714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Lectura de negocio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486B99-ACFF-441D-8DED-AF6E7244ED30}"/>
              </a:ext>
            </a:extLst>
          </p:cNvPr>
          <p:cNvSpPr>
            <a:spLocks noGrp="1"/>
          </p:cNvSpPr>
          <p:nvPr/>
        </p:nvSpPr>
        <p:spPr>
          <a:xfrm>
            <a:off x="7048500" y="4171950"/>
            <a:ext cx="3714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modelo deja de ser conservador: encuentra más juegos exitosos, aunque obliga a revisar más candidatos.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1F78432-6040-4B23-BC29-7890E19CC4C6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101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74924145-9836-49EE-A024-AA6ECEC5B09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SEGMENTACIÓN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F36C83-420E-4285-9D06-E3765F1502D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K-Means agrega perfiles de catálogo para interpretar mejor el mercado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5BB9CF-5962-44BF-BDA2-B76A7551B8CC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C8C48E-F207-4808-8034-7D16D66F44A2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D88A7A-012B-4CC0-A765-7E106255FF3A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323850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6B92B3-324E-4A07-9999-464D6C5CF18D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20079B-201B-4F34-B523-61B522F76EF6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Juegos casuales / estándar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442EE7-DF44-4654-8374-ECCD566E4579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257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Precio y uso cercanos al promedio del catálogo.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7517548-8DB4-470B-A260-8DDC08A8FA23}"/>
              </a:ext>
            </a:extLst>
          </p:cNvPr>
          <p:cNvSpPr>
            <a:spLocks noGrp="1"/>
          </p:cNvSpPr>
          <p:nvPr/>
        </p:nvSpPr>
        <p:spPr>
          <a:xfrm>
            <a:off x="4191000" y="2095500"/>
            <a:ext cx="3238500" cy="2381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7B88F3-A740-487F-AA2D-A1FE4E68C545}"/>
              </a:ext>
            </a:extLst>
          </p:cNvPr>
          <p:cNvSpPr>
            <a:spLocks noGrp="1"/>
          </p:cNvSpPr>
          <p:nvPr/>
        </p:nvSpPr>
        <p:spPr>
          <a:xfrm>
            <a:off x="4476750" y="23622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D311F10-6EB4-41AB-B2AD-2E16DFF13033}"/>
              </a:ext>
            </a:extLst>
          </p:cNvPr>
          <p:cNvSpPr>
            <a:spLocks noGrp="1"/>
          </p:cNvSpPr>
          <p:nvPr/>
        </p:nvSpPr>
        <p:spPr>
          <a:xfrm>
            <a:off x="4476750" y="31813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Juegos con muchas horas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8A34214-2510-4CD5-AE78-C14793720C8D}"/>
              </a:ext>
            </a:extLst>
          </p:cNvPr>
          <p:cNvSpPr>
            <a:spLocks noGrp="1"/>
          </p:cNvSpPr>
          <p:nvPr/>
        </p:nvSpPr>
        <p:spPr>
          <a:xfrm>
            <a:off x="4476750" y="3867150"/>
            <a:ext cx="257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Títulos con retención o uso intensivo de jugadores.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3FAF911-62EC-4C13-9DE5-9C13456B659D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323850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1FB2F93-8829-4787-BD28-991261C89FDF}"/>
              </a:ext>
            </a:extLst>
          </p:cNvPr>
          <p:cNvSpPr>
            <a:spLocks noGrp="1"/>
          </p:cNvSpPr>
          <p:nvPr/>
        </p:nvSpPr>
        <p:spPr>
          <a:xfrm>
            <a:off x="8267700" y="23622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E178433-3D77-4482-AE87-BD8095962C91}"/>
              </a:ext>
            </a:extLst>
          </p:cNvPr>
          <p:cNvSpPr>
            <a:spLocks noGrp="1"/>
          </p:cNvSpPr>
          <p:nvPr/>
        </p:nvSpPr>
        <p:spPr>
          <a:xfrm>
            <a:off x="8267700" y="31813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Juegos caza-logros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C40A320-45A4-4B14-B8A3-802A9E6FE6B1}"/>
              </a:ext>
            </a:extLst>
          </p:cNvPr>
          <p:cNvSpPr>
            <a:spLocks noGrp="1"/>
          </p:cNvSpPr>
          <p:nvPr/>
        </p:nvSpPr>
        <p:spPr>
          <a:xfrm>
            <a:off x="8267700" y="3867150"/>
            <a:ext cx="257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Catálogo donde los logros son un rasgo distintivo.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9CB98F2-7735-4E8C-BE62-B57B061F9EF2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 mantiene k = 3 porque produce segmentos fáciles de explicar y útiles para un dashboard ejecutivo.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D0DDAA-806B-4C83-AE14-7BB1CD96CC8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065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21C3FFD2-35C8-4B7B-8679-5EBA4B4896E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DESPLIEGUE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4576A5-5AB7-427B-80CB-F08F86D83608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resultado queda preparado para dashboard y actualización periódica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D6A844-44A2-4B75-8204-829794E45FA3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207C72E-DD43-4769-91F0-59C3C94531C7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5A11C6-1DD9-4CAC-BD3E-930DAC660AE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1276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0CF3FC-C821-49EF-933D-EC84FA27A92F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252600-8D1E-4205-BDBB-B45410752F75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steam.csv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6628716-89EC-49DC-90D9-308C5DAB0238}"/>
              </a:ext>
            </a:extLst>
          </p:cNvPr>
          <p:cNvSpPr>
            <a:spLocks noGrp="1"/>
          </p:cNvSpPr>
          <p:nvPr/>
        </p:nvSpPr>
        <p:spPr>
          <a:xfrm>
            <a:off x="2847975" y="3028950"/>
            <a:ext cx="476250" cy="381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FE4149-18AD-4BBF-9138-377E3D863FB6}"/>
              </a:ext>
            </a:extLst>
          </p:cNvPr>
          <p:cNvSpPr>
            <a:spLocks noGrp="1"/>
          </p:cNvSpPr>
          <p:nvPr/>
        </p:nvSpPr>
        <p:spPr>
          <a:xfrm>
            <a:off x="3419475" y="2400300"/>
            <a:ext cx="2038350" cy="1276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7B47132-AF87-4535-A9FF-E42372E2496F}"/>
              </a:ext>
            </a:extLst>
          </p:cNvPr>
          <p:cNvSpPr>
            <a:spLocks noGrp="1"/>
          </p:cNvSpPr>
          <p:nvPr/>
        </p:nvSpPr>
        <p:spPr>
          <a:xfrm>
            <a:off x="3629025" y="26670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Notebook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727E4BA-CC4C-48EA-9305-F22C9988662F}"/>
              </a:ext>
            </a:extLst>
          </p:cNvPr>
          <p:cNvSpPr>
            <a:spLocks noGrp="1"/>
          </p:cNvSpPr>
          <p:nvPr/>
        </p:nvSpPr>
        <p:spPr>
          <a:xfrm>
            <a:off x="3629025" y="31051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limpieza + modelos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0AAA17-083E-4E33-80B0-2EDD7307251D}"/>
              </a:ext>
            </a:extLst>
          </p:cNvPr>
          <p:cNvSpPr>
            <a:spLocks noGrp="1"/>
          </p:cNvSpPr>
          <p:nvPr/>
        </p:nvSpPr>
        <p:spPr>
          <a:xfrm>
            <a:off x="5562600" y="3028950"/>
            <a:ext cx="476250" cy="381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ECD64A6-3885-48AE-97AB-D0DE4146123B}"/>
              </a:ext>
            </a:extLst>
          </p:cNvPr>
          <p:cNvSpPr>
            <a:spLocks noGrp="1"/>
          </p:cNvSpPr>
          <p:nvPr/>
        </p:nvSpPr>
        <p:spPr>
          <a:xfrm>
            <a:off x="6134100" y="2400300"/>
            <a:ext cx="2038350" cy="1276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8B4AF7-51E5-437B-8AD0-89693033CD84}"/>
              </a:ext>
            </a:extLst>
          </p:cNvPr>
          <p:cNvSpPr>
            <a:spLocks noGrp="1"/>
          </p:cNvSpPr>
          <p:nvPr/>
        </p:nvSpPr>
        <p:spPr>
          <a:xfrm>
            <a:off x="6343650" y="26670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 final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C05255-DA9C-459C-8B9F-B076E8D91635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steam_dashboard_data.csv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8600C1A-54A1-43D1-BD04-9BF1E72EAD71}"/>
              </a:ext>
            </a:extLst>
          </p:cNvPr>
          <p:cNvSpPr>
            <a:spLocks noGrp="1"/>
          </p:cNvSpPr>
          <p:nvPr/>
        </p:nvSpPr>
        <p:spPr>
          <a:xfrm>
            <a:off x="8277225" y="3028950"/>
            <a:ext cx="476250" cy="381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4CFD05-3D38-4094-B604-BB44EEC95E7A}"/>
              </a:ext>
            </a:extLst>
          </p:cNvPr>
          <p:cNvSpPr>
            <a:spLocks noGrp="1"/>
          </p:cNvSpPr>
          <p:nvPr/>
        </p:nvSpPr>
        <p:spPr>
          <a:xfrm>
            <a:off x="8848725" y="2400300"/>
            <a:ext cx="2038350" cy="1276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C65A72C-99F6-4FD0-AE19-76847EAA2698}"/>
              </a:ext>
            </a:extLst>
          </p:cNvPr>
          <p:cNvSpPr>
            <a:spLocks noGrp="1"/>
          </p:cNvSpPr>
          <p:nvPr/>
        </p:nvSpPr>
        <p:spPr>
          <a:xfrm>
            <a:off x="9058275" y="26670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Looker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E07D000-D88A-4277-AF3F-5FD37BD84C32}"/>
              </a:ext>
            </a:extLst>
          </p:cNvPr>
          <p:cNvSpPr>
            <a:spLocks noGrp="1"/>
          </p:cNvSpPr>
          <p:nvPr/>
        </p:nvSpPr>
        <p:spPr>
          <a:xfrm>
            <a:off x="9058275" y="31051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262D9BB-1571-4073-BA99-788643A5967A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automatización propuesta permite recargar datos, recalcular éxito comercial, reasignar cluster y refrescar el dashboard.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3CDD62-AB62-46E7-86DB-87C5C54A106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047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92C39E79-17C2-4D0C-8475-460C2243D6D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6EC3553-EA37-4772-8684-BBE8BF56FF45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74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solución sirve como filtro inicial para encontrar oportunidades comerciales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C099BB-E181-4BC0-8B9E-96276EF2A22A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CD5E54-B1C6-4A61-A852-1C5183043C0E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BIY7121 Minería de Datos | Steam Games Dataset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BDFC6B-2097-47C3-81C2-37D48A76BA0E}"/>
              </a:ext>
            </a:extLst>
          </p:cNvPr>
          <p:cNvSpPr>
            <a:spLocks noGrp="1"/>
          </p:cNvSpPr>
          <p:nvPr/>
        </p:nvSpPr>
        <p:spPr>
          <a:xfrm>
            <a:off x="400050" y="1943100"/>
            <a:ext cx="828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modelo balanceado sacrifica precisión, pero aumenta la detección de juegos exitosos. Para una empresa, ese intercambio es útil: es mejor revisar más candidatos que perder títulos con potencial.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C4EC2F-386E-48F6-B45C-E35317C99447}"/>
              </a:ext>
            </a:extLst>
          </p:cNvPr>
          <p:cNvSpPr>
            <a:spLocks noGrp="1"/>
          </p:cNvSpPr>
          <p:nvPr/>
        </p:nvSpPr>
        <p:spPr>
          <a:xfrm>
            <a:off x="400050" y="3867150"/>
            <a:ext cx="3429000" cy="128369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17680D-779E-414F-85F0-3428F0572FC2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365946-F217-4317-90A4-196FE9B4D82D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Priorizar juegos para revisión comercial.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847BE4C-AC90-4DFB-80AD-6BED1F361D99}"/>
              </a:ext>
            </a:extLst>
          </p:cNvPr>
          <p:cNvSpPr>
            <a:spLocks noGrp="1"/>
          </p:cNvSpPr>
          <p:nvPr/>
        </p:nvSpPr>
        <p:spPr>
          <a:xfrm>
            <a:off x="4381500" y="3867150"/>
            <a:ext cx="3429000" cy="128369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D00540B-2CBA-4217-9F95-3228273EF644}"/>
              </a:ext>
            </a:extLst>
          </p:cNvPr>
          <p:cNvSpPr>
            <a:spLocks noGrp="1"/>
          </p:cNvSpPr>
          <p:nvPr/>
        </p:nvSpPr>
        <p:spPr>
          <a:xfrm>
            <a:off x="4667250" y="4095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9B1448-3DE8-43F8-8E6F-877A4045D34D}"/>
              </a:ext>
            </a:extLst>
          </p:cNvPr>
          <p:cNvSpPr>
            <a:spLocks noGrp="1"/>
          </p:cNvSpPr>
          <p:nvPr/>
        </p:nvSpPr>
        <p:spPr>
          <a:xfrm>
            <a:off x="4667250" y="4476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El </a:t>
            </a:r>
            <a:r>
              <a:rPr sz="1425" b="0" dirty="0" err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precio</a:t>
            </a:r>
            <a:r>
              <a:rPr sz="142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por</a:t>
            </a:r>
            <a:r>
              <a:rPr sz="142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sí</a:t>
            </a:r>
            <a:r>
              <a:rPr sz="142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 solo no </a:t>
            </a:r>
            <a:r>
              <a:rPr sz="1425" b="0" dirty="0" err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explica</a:t>
            </a:r>
            <a:r>
              <a:rPr sz="142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 el </a:t>
            </a:r>
            <a:r>
              <a:rPr sz="1425" b="0" dirty="0" err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éxito</a:t>
            </a:r>
            <a:r>
              <a:rPr sz="142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2F84D21-4329-41CA-BBB7-BF059372EC0F}"/>
              </a:ext>
            </a:extLst>
          </p:cNvPr>
          <p:cNvSpPr>
            <a:spLocks noGrp="1"/>
          </p:cNvSpPr>
          <p:nvPr/>
        </p:nvSpPr>
        <p:spPr>
          <a:xfrm>
            <a:off x="8362950" y="3867150"/>
            <a:ext cx="3429000" cy="128369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AADFD45-2AF5-4506-80F5-E1E4C89EBDA6}"/>
              </a:ext>
            </a:extLst>
          </p:cNvPr>
          <p:cNvSpPr>
            <a:spLocks noGrp="1"/>
          </p:cNvSpPr>
          <p:nvPr/>
        </p:nvSpPr>
        <p:spPr>
          <a:xfrm>
            <a:off x="8648700" y="4095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Continuidad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C1D0070-D691-4219-8DE7-E7E58F66AB23}"/>
              </a:ext>
            </a:extLst>
          </p:cNvPr>
          <p:cNvSpPr>
            <a:spLocks noGrp="1"/>
          </p:cNvSpPr>
          <p:nvPr/>
        </p:nvSpPr>
        <p:spPr>
          <a:xfrm>
            <a:off x="8648700" y="4476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Dashboard y actualización periódica.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9BFDB12-D9AF-4A59-A73D-378A48B3287E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Fuente principal: notebook MineriaSteam y Steam Games Dataset.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018AF3D-0D0B-4DE9-862C-9E6F51C692F6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49341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</Words>
  <Application>Microsoft Office PowerPoint</Application>
  <DocSecurity>0</DocSecurity>
  <PresentationFormat>Panorámica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Calibri</vt:lpstr>
      <vt:lpstr>Helvetica Neue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Amaru Araneda</cp:lastModifiedBy>
  <cp:revision>1</cp:revision>
  <dcterms:created xsi:type="dcterms:W3CDTF">2026-07-13T22:53:52Z</dcterms:created>
  <dcterms:modified xsi:type="dcterms:W3CDTF">2026-07-13T22:57:01Z</dcterms:modified>
</cp:coreProperties>
</file>